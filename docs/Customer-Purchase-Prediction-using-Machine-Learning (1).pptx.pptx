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etrona Bold" charset="1" panose="00000000000000000000"/>
      <p:regular r:id="rId18"/>
    </p:embeddedFont>
    <p:embeddedFont>
      <p:font typeface="Inter" charset="1" panose="02000503000000020004"/>
      <p:regular r:id="rId19"/>
    </p:embeddedFont>
    <p:embeddedFont>
      <p:font typeface="Inter Bold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https://customer-purchase-prediction-puce.vercel.app" TargetMode="External" Type="http://schemas.openxmlformats.org/officeDocument/2006/relationships/hyperlink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ihrysklps/Customer-Purchase-Prediction" TargetMode="External" Type="http://schemas.openxmlformats.org/officeDocument/2006/relationships/hyperlink"/><Relationship Id="rId5" Target="https://customer-purchase-prediction-puce.vercel.app" TargetMode="External" Type="http://schemas.openxmlformats.org/officeDocument/2006/relationships/hyperlink"/><Relationship Id="rId6" Target="../media/image19.png" Type="http://schemas.openxmlformats.org/officeDocument/2006/relationships/image"/><Relationship Id="rId7" Target="mailto:hrysklps2305@gmail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15451"/>
            <a:ext cx="16303523" cy="178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Customer Purchase Prediction using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29423"/>
            <a:ext cx="16303523" cy="158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 end-to-end AI-powered system that predicts which customers are most likely to buy — integrating a React frontend, FastAPI backend, and a Scikit-Learn model for real-time predictions.</a:t>
            </a:r>
          </a:p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Presenter: </a:t>
            </a: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Hrydyansh Shukla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5092456"/>
            <a:ext cx="1114130" cy="688477"/>
            <a:chOff x="0" y="0"/>
            <a:chExt cx="1485506" cy="91796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485519" cy="917956"/>
            </a:xfrm>
            <a:custGeom>
              <a:avLst/>
              <a:gdLst/>
              <a:ahLst/>
              <a:cxnLst/>
              <a:rect r="r" b="b" t="t" l="l"/>
              <a:pathLst>
                <a:path h="917956" w="1485519">
                  <a:moveTo>
                    <a:pt x="0" y="0"/>
                  </a:moveTo>
                  <a:lnTo>
                    <a:pt x="1485519" y="0"/>
                  </a:lnTo>
                  <a:lnTo>
                    <a:pt x="1485519" y="917956"/>
                  </a:lnTo>
                  <a:lnTo>
                    <a:pt x="0" y="91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4" r="0" b="-48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17864" y="5073406"/>
            <a:ext cx="2416521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Python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7864" y="5611263"/>
            <a:ext cx="2416521" cy="130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Core language for data processing and model training.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5881" y="5092456"/>
            <a:ext cx="1114130" cy="688477"/>
            <a:chOff x="0" y="0"/>
            <a:chExt cx="1485506" cy="91796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85519" cy="917956"/>
            </a:xfrm>
            <a:custGeom>
              <a:avLst/>
              <a:gdLst/>
              <a:ahLst/>
              <a:cxnLst/>
              <a:rect r="r" b="b" t="t" l="l"/>
              <a:pathLst>
                <a:path h="917956" w="1485519">
                  <a:moveTo>
                    <a:pt x="0" y="0"/>
                  </a:moveTo>
                  <a:lnTo>
                    <a:pt x="1485519" y="0"/>
                  </a:lnTo>
                  <a:lnTo>
                    <a:pt x="1485519" y="917956"/>
                  </a:lnTo>
                  <a:lnTo>
                    <a:pt x="0" y="91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4" r="0" b="-48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71507" y="5073406"/>
            <a:ext cx="2416673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FastAPI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71507" y="5611263"/>
            <a:ext cx="2416673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Lightweight, high-performance REST API for serving predictions.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99677" y="5092456"/>
            <a:ext cx="1114130" cy="688477"/>
            <a:chOff x="0" y="0"/>
            <a:chExt cx="1485506" cy="91796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485519" cy="917956"/>
            </a:xfrm>
            <a:custGeom>
              <a:avLst/>
              <a:gdLst/>
              <a:ahLst/>
              <a:cxnLst/>
              <a:rect r="r" b="b" t="t" l="l"/>
              <a:pathLst>
                <a:path h="917956" w="1485519">
                  <a:moveTo>
                    <a:pt x="0" y="0"/>
                  </a:moveTo>
                  <a:lnTo>
                    <a:pt x="1485519" y="0"/>
                  </a:lnTo>
                  <a:lnTo>
                    <a:pt x="1485519" y="917956"/>
                  </a:lnTo>
                  <a:lnTo>
                    <a:pt x="0" y="91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4" r="0" b="-48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725302" y="5073406"/>
            <a:ext cx="2416673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Scikit-Learn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25302" y="5611263"/>
            <a:ext cx="2416673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 building and evaluation for binary classification.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53472" y="5092456"/>
            <a:ext cx="1114130" cy="688477"/>
            <a:chOff x="0" y="0"/>
            <a:chExt cx="1485506" cy="91796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485519" cy="917956"/>
            </a:xfrm>
            <a:custGeom>
              <a:avLst/>
              <a:gdLst/>
              <a:ahLst/>
              <a:cxnLst/>
              <a:rect r="r" b="b" t="t" l="l"/>
              <a:pathLst>
                <a:path h="917956" w="1485519">
                  <a:moveTo>
                    <a:pt x="0" y="0"/>
                  </a:moveTo>
                  <a:lnTo>
                    <a:pt x="1485519" y="0"/>
                  </a:lnTo>
                  <a:lnTo>
                    <a:pt x="1485519" y="917956"/>
                  </a:lnTo>
                  <a:lnTo>
                    <a:pt x="0" y="91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84" r="0" b="-48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879088" y="5073406"/>
            <a:ext cx="2416673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React &amp; Vercel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79088" y="5611263"/>
            <a:ext cx="2416673" cy="130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Interactive UI deployed to Vercel for fast delivery.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7824045"/>
            <a:ext cx="1114130" cy="688477"/>
            <a:chOff x="0" y="0"/>
            <a:chExt cx="1485506" cy="917969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485519" cy="917956"/>
            </a:xfrm>
            <a:custGeom>
              <a:avLst/>
              <a:gdLst/>
              <a:ahLst/>
              <a:cxnLst/>
              <a:rect r="r" b="b" t="t" l="l"/>
              <a:pathLst>
                <a:path h="917956" w="1485519">
                  <a:moveTo>
                    <a:pt x="0" y="0"/>
                  </a:moveTo>
                  <a:lnTo>
                    <a:pt x="1485519" y="0"/>
                  </a:lnTo>
                  <a:lnTo>
                    <a:pt x="1485519" y="917956"/>
                  </a:lnTo>
                  <a:lnTo>
                    <a:pt x="0" y="91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84" r="0" b="-485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417864" y="7804995"/>
            <a:ext cx="2416521" cy="45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GitHub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17864" y="8342862"/>
            <a:ext cx="2416521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Source control and collaboration.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81327"/>
            <a:ext cx="16303523" cy="7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Dataset &amp;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35503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balanced mix of behavioural and demographic signals informs the prediction. Target: </a:t>
            </a:r>
            <a:r>
              <a:rPr lang="en-US" sz="22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Purchase Prediction (binary)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5314" y="3865216"/>
            <a:ext cx="413519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Numerical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5314" y="4443260"/>
            <a:ext cx="4135193" cy="3261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Age; Annual Income; Number of Purchases; Time Spent on Website; Customer Tenure; Last Purchase Days Ago; Session Count; Discounts Availed; Customer Satisfaction.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07941" y="3865216"/>
            <a:ext cx="413519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Categorical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07941" y="4443260"/>
            <a:ext cx="413519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Gender; Product Category; Preferred Device; Region; Referral Source; Customer Segment; Loyalty Program.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0578" y="3865216"/>
            <a:ext cx="413519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Target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60578" y="4443260"/>
            <a:ext cx="413519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Purchase Prediction — Binary classification: will-purchase / will-not-purchase.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937602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Icons summarise each feature group to make the dataset structure easy to scan and remember.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2027"/>
            <a:ext cx="16303523" cy="6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9361" y="1708099"/>
            <a:ext cx="16169135" cy="6972452"/>
            <a:chOff x="0" y="0"/>
            <a:chExt cx="21558847" cy="92966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558886" cy="9296654"/>
            </a:xfrm>
            <a:custGeom>
              <a:avLst/>
              <a:gdLst/>
              <a:ahLst/>
              <a:cxnLst/>
              <a:rect r="r" b="b" t="t" l="l"/>
              <a:pathLst>
                <a:path h="9296654" w="21558886">
                  <a:moveTo>
                    <a:pt x="0" y="0"/>
                  </a:moveTo>
                  <a:lnTo>
                    <a:pt x="21558886" y="0"/>
                  </a:lnTo>
                  <a:lnTo>
                    <a:pt x="21558886" y="9296654"/>
                  </a:lnTo>
                  <a:lnTo>
                    <a:pt x="0" y="9296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" r="0" b="-5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47430" y="7327802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Pydantic 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7430" y="5713790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FastAPI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7430" y="4116086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React 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7430" y="2502075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User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8837114"/>
            <a:ext cx="16303523" cy="6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frontend collects customer attributes, the FastAPI backend validates input with Pydantic, forwards features to the ML model, and returns a compact JSON prediction and probability for display.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2027"/>
            <a:ext cx="16303523" cy="6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Machine Learning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9361" y="1708099"/>
            <a:ext cx="16169135" cy="6972452"/>
            <a:chOff x="0" y="0"/>
            <a:chExt cx="21558847" cy="92966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558886" cy="9296654"/>
            </a:xfrm>
            <a:custGeom>
              <a:avLst/>
              <a:gdLst/>
              <a:ahLst/>
              <a:cxnLst/>
              <a:rect r="r" b="b" t="t" l="l"/>
              <a:pathLst>
                <a:path h="9296654" w="21558886">
                  <a:moveTo>
                    <a:pt x="0" y="0"/>
                  </a:moveTo>
                  <a:lnTo>
                    <a:pt x="21558886" y="0"/>
                  </a:lnTo>
                  <a:lnTo>
                    <a:pt x="21558886" y="9296654"/>
                  </a:lnTo>
                  <a:lnTo>
                    <a:pt x="0" y="9296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" r="0" b="-5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47430" y="7327802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Serialize &amp; Serve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7430" y="5713790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Train &amp; Evalualte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7430" y="4116086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Feature Engineering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7430" y="2502075"/>
            <a:ext cx="3851615" cy="5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Data Preparation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8837114"/>
            <a:ext cx="16303523" cy="6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note: the trained model is serialized using </a:t>
            </a:r>
            <a:r>
              <a:rPr lang="en-US" sz="1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Joblib</a:t>
            </a: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served via FastAPI. Preprocessing objects (scalers/encoders) are bundled with the pipeline to ensure consistent production behaviour.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78694"/>
            <a:ext cx="16303523" cy="76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Tech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213077"/>
            <a:ext cx="1721792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Modern, production-ready technologies across interface, API, ML, and deployment.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041152"/>
            <a:ext cx="839991" cy="839991"/>
            <a:chOff x="0" y="0"/>
            <a:chExt cx="1119988" cy="11199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20013" cy="1120013"/>
            </a:xfrm>
            <a:custGeom>
              <a:avLst/>
              <a:gdLst/>
              <a:ahLst/>
              <a:cxnLst/>
              <a:rect r="r" b="b" t="t" l="l"/>
              <a:pathLst>
                <a:path h="1120013" w="1120013">
                  <a:moveTo>
                    <a:pt x="0" y="0"/>
                  </a:moveTo>
                  <a:lnTo>
                    <a:pt x="1120013" y="0"/>
                  </a:lnTo>
                  <a:lnTo>
                    <a:pt x="1120013" y="1120013"/>
                  </a:lnTo>
                  <a:lnTo>
                    <a:pt x="0" y="112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75567" y="3031627"/>
            <a:ext cx="2635006" cy="46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5567" y="3587506"/>
            <a:ext cx="2635006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 — dynamic forms and dashboard UI.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53920" y="3041152"/>
            <a:ext cx="839991" cy="839991"/>
            <a:chOff x="0" y="0"/>
            <a:chExt cx="1119988" cy="111998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20013" cy="1120013"/>
            </a:xfrm>
            <a:custGeom>
              <a:avLst/>
              <a:gdLst/>
              <a:ahLst/>
              <a:cxnLst/>
              <a:rect r="r" b="b" t="t" l="l"/>
              <a:pathLst>
                <a:path h="1120013" w="1120013">
                  <a:moveTo>
                    <a:pt x="0" y="0"/>
                  </a:moveTo>
                  <a:lnTo>
                    <a:pt x="1120013" y="0"/>
                  </a:lnTo>
                  <a:lnTo>
                    <a:pt x="1120013" y="1120013"/>
                  </a:lnTo>
                  <a:lnTo>
                    <a:pt x="0" y="112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337249" y="3031627"/>
            <a:ext cx="2635006" cy="46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7249" y="3587506"/>
            <a:ext cx="2635006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FastAPI — async endpoints, Pydantic validation.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15602" y="3041152"/>
            <a:ext cx="839991" cy="839991"/>
            <a:chOff x="0" y="0"/>
            <a:chExt cx="1119988" cy="111998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120013" cy="1120013"/>
            </a:xfrm>
            <a:custGeom>
              <a:avLst/>
              <a:gdLst/>
              <a:ahLst/>
              <a:cxnLst/>
              <a:rect r="r" b="b" t="t" l="l"/>
              <a:pathLst>
                <a:path h="1120013" w="1120013">
                  <a:moveTo>
                    <a:pt x="0" y="0"/>
                  </a:moveTo>
                  <a:lnTo>
                    <a:pt x="1120013" y="0"/>
                  </a:lnTo>
                  <a:lnTo>
                    <a:pt x="1120013" y="1120013"/>
                  </a:lnTo>
                  <a:lnTo>
                    <a:pt x="0" y="112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498931" y="3031627"/>
            <a:ext cx="2635006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Machine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98931" y="4045296"/>
            <a:ext cx="2635006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Scikit-Learn, Pandas, Joblib for training and serialization.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77284" y="3041152"/>
            <a:ext cx="839991" cy="839991"/>
            <a:chOff x="0" y="0"/>
            <a:chExt cx="1119988" cy="111998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120013" cy="1120013"/>
            </a:xfrm>
            <a:custGeom>
              <a:avLst/>
              <a:gdLst/>
              <a:ahLst/>
              <a:cxnLst/>
              <a:rect r="r" b="b" t="t" l="l"/>
              <a:pathLst>
                <a:path h="1120013" w="1120013">
                  <a:moveTo>
                    <a:pt x="0" y="0"/>
                  </a:moveTo>
                  <a:lnTo>
                    <a:pt x="1120013" y="0"/>
                  </a:lnTo>
                  <a:lnTo>
                    <a:pt x="1120013" y="1120013"/>
                  </a:lnTo>
                  <a:lnTo>
                    <a:pt x="0" y="112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660613" y="3031627"/>
            <a:ext cx="2635148" cy="46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Deployment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60613" y="3587506"/>
            <a:ext cx="2635148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Vercel for frontend hosting; backend served as a separate API (deploy option: cloud or container).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6870649"/>
            <a:ext cx="839991" cy="839991"/>
            <a:chOff x="0" y="0"/>
            <a:chExt cx="1119988" cy="111998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20013" cy="1120013"/>
            </a:xfrm>
            <a:custGeom>
              <a:avLst/>
              <a:gdLst/>
              <a:ahLst/>
              <a:cxnLst/>
              <a:rect r="r" b="b" t="t" l="l"/>
              <a:pathLst>
                <a:path h="1120013" w="1120013">
                  <a:moveTo>
                    <a:pt x="0" y="0"/>
                  </a:moveTo>
                  <a:lnTo>
                    <a:pt x="1120013" y="0"/>
                  </a:lnTo>
                  <a:lnTo>
                    <a:pt x="1120013" y="1120013"/>
                  </a:lnTo>
                  <a:lnTo>
                    <a:pt x="0" y="112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175567" y="6861124"/>
            <a:ext cx="2635006" cy="92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Version Control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75567" y="7874794"/>
            <a:ext cx="2635006" cy="140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Git &amp; GitHub — collaboration, CI/CD readiness.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53613"/>
            <a:ext cx="16303523" cy="7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Application Workflow &amp;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21051"/>
            <a:ext cx="617085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End-to-end prediction flow: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629768"/>
            <a:ext cx="5256457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enters customer details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Input validation (Pydantic)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API request to FastAPI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 returns probability and binary prediction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UI displays prediction, confidence score, and recommended 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7456732"/>
            <a:ext cx="525645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Live application: </a:t>
            </a:r>
            <a:r>
              <a:rPr lang="en-US" b="true" sz="2200" u="sng">
                <a:solidFill>
                  <a:srgbClr val="007EBD"/>
                </a:solidFill>
                <a:latin typeface="Inter Bold"/>
                <a:ea typeface="Inter Bold"/>
                <a:cs typeface="Inter Bold"/>
                <a:sym typeface="Inter Bold"/>
                <a:hlinkClick r:id="rId4" tooltip="https://customer-purchase-prediction-puce.vercel.app"/>
              </a:rPr>
              <a:t>https://customer-purchase-prediction-puce.vercel.app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49973" y="3760441"/>
            <a:ext cx="707384" cy="884187"/>
            <a:chOff x="0" y="0"/>
            <a:chExt cx="943178" cy="11789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43229" cy="1178941"/>
            </a:xfrm>
            <a:custGeom>
              <a:avLst/>
              <a:gdLst/>
              <a:ahLst/>
              <a:cxnLst/>
              <a:rect r="r" b="b" t="t" l="l"/>
              <a:pathLst>
                <a:path h="1178941" w="943229">
                  <a:moveTo>
                    <a:pt x="0" y="0"/>
                  </a:moveTo>
                  <a:lnTo>
                    <a:pt x="943229" y="0"/>
                  </a:lnTo>
                  <a:lnTo>
                    <a:pt x="943229" y="1178941"/>
                  </a:lnTo>
                  <a:lnTo>
                    <a:pt x="0" y="117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1" t="0" r="-394" b="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11716" y="3731866"/>
            <a:ext cx="2153688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Input 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11716" y="4423324"/>
            <a:ext cx="2153688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 attributes captured via a clean, validated form.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19772" y="3760441"/>
            <a:ext cx="707384" cy="884187"/>
            <a:chOff x="0" y="0"/>
            <a:chExt cx="943178" cy="117891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43229" cy="1178941"/>
            </a:xfrm>
            <a:custGeom>
              <a:avLst/>
              <a:gdLst/>
              <a:ahLst/>
              <a:cxnLst/>
              <a:rect r="r" b="b" t="t" l="l"/>
              <a:pathLst>
                <a:path h="1178941" w="943229">
                  <a:moveTo>
                    <a:pt x="0" y="0"/>
                  </a:moveTo>
                  <a:lnTo>
                    <a:pt x="943229" y="0"/>
                  </a:lnTo>
                  <a:lnTo>
                    <a:pt x="943229" y="1178941"/>
                  </a:lnTo>
                  <a:lnTo>
                    <a:pt x="0" y="117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1" t="0" r="-394" b="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581505" y="3731866"/>
            <a:ext cx="2153688" cy="95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Prediction Output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81505" y="4888411"/>
            <a:ext cx="2153688" cy="280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Binary decision with probability and recommended marketing action.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089561" y="3760441"/>
            <a:ext cx="707384" cy="884187"/>
            <a:chOff x="0" y="0"/>
            <a:chExt cx="943178" cy="117891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43229" cy="1178941"/>
            </a:xfrm>
            <a:custGeom>
              <a:avLst/>
              <a:gdLst/>
              <a:ahLst/>
              <a:cxnLst/>
              <a:rect r="r" b="b" t="t" l="l"/>
              <a:pathLst>
                <a:path h="1178941" w="943229">
                  <a:moveTo>
                    <a:pt x="0" y="0"/>
                  </a:moveTo>
                  <a:lnTo>
                    <a:pt x="943229" y="0"/>
                  </a:lnTo>
                  <a:lnTo>
                    <a:pt x="943229" y="1178941"/>
                  </a:lnTo>
                  <a:lnTo>
                    <a:pt x="0" y="117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1" t="0" r="-394" b="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151294" y="3731866"/>
            <a:ext cx="2153688" cy="95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Confidence Score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51294" y="4888411"/>
            <a:ext cx="2153688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Probability presented as a percentage for easy interpretation.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52640"/>
            <a:ext cx="16303523" cy="50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Key Features &amp; Business Impact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586162" y="1819866"/>
            <a:ext cx="223237" cy="279054"/>
            <a:chOff x="0" y="0"/>
            <a:chExt cx="297650" cy="372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7656" cy="372069"/>
            </a:xfrm>
            <a:custGeom>
              <a:avLst/>
              <a:gdLst/>
              <a:ahLst/>
              <a:cxnLst/>
              <a:rect r="r" b="b" t="t" l="l"/>
              <a:pathLst>
                <a:path h="372069" w="297656">
                  <a:moveTo>
                    <a:pt x="0" y="0"/>
                  </a:moveTo>
                  <a:lnTo>
                    <a:pt x="297656" y="0"/>
                  </a:lnTo>
                  <a:lnTo>
                    <a:pt x="297656" y="372069"/>
                  </a:lnTo>
                  <a:lnTo>
                    <a:pt x="0" y="372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t="0" r="-11037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97650" cy="381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97321" y="2415035"/>
            <a:ext cx="5000920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FastAPI REST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7321" y="2832792"/>
            <a:ext cx="5000920" cy="26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Low-latency endpoints for real-time scoring.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586162" y="3564884"/>
            <a:ext cx="223237" cy="279054"/>
            <a:chOff x="0" y="0"/>
            <a:chExt cx="297650" cy="37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7656" cy="372069"/>
            </a:xfrm>
            <a:custGeom>
              <a:avLst/>
              <a:gdLst/>
              <a:ahLst/>
              <a:cxnLst/>
              <a:rect r="r" b="b" t="t" l="l"/>
              <a:pathLst>
                <a:path h="372069" w="297656">
                  <a:moveTo>
                    <a:pt x="0" y="0"/>
                  </a:moveTo>
                  <a:lnTo>
                    <a:pt x="297656" y="0"/>
                  </a:lnTo>
                  <a:lnTo>
                    <a:pt x="297656" y="372069"/>
                  </a:lnTo>
                  <a:lnTo>
                    <a:pt x="0" y="372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t="0" r="-11037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97650" cy="381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97321" y="4160044"/>
            <a:ext cx="5000920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Pydantic Validation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7321" y="4577801"/>
            <a:ext cx="5000920" cy="51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Strong input contracts prevent bad requests and ensure feature consistency.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86162" y="5556352"/>
            <a:ext cx="223237" cy="279054"/>
            <a:chOff x="0" y="0"/>
            <a:chExt cx="297650" cy="372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7656" cy="372069"/>
            </a:xfrm>
            <a:custGeom>
              <a:avLst/>
              <a:gdLst/>
              <a:ahLst/>
              <a:cxnLst/>
              <a:rect r="r" b="b" t="t" l="l"/>
              <a:pathLst>
                <a:path h="372069" w="297656">
                  <a:moveTo>
                    <a:pt x="0" y="0"/>
                  </a:moveTo>
                  <a:lnTo>
                    <a:pt x="297656" y="0"/>
                  </a:lnTo>
                  <a:lnTo>
                    <a:pt x="297656" y="372069"/>
                  </a:lnTo>
                  <a:lnTo>
                    <a:pt x="0" y="372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t="0" r="-11037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97650" cy="381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3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97321" y="6151512"/>
            <a:ext cx="5000920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Pre-trained Scikit-Learn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7321" y="6569278"/>
            <a:ext cx="5000920" cy="51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Interpretable baseline and easy experimentation with advanced models.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586162" y="7547820"/>
            <a:ext cx="223237" cy="279054"/>
            <a:chOff x="0" y="0"/>
            <a:chExt cx="297650" cy="3720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7656" cy="372069"/>
            </a:xfrm>
            <a:custGeom>
              <a:avLst/>
              <a:gdLst/>
              <a:ahLst/>
              <a:cxnLst/>
              <a:rect r="r" b="b" t="t" l="l"/>
              <a:pathLst>
                <a:path h="372069" w="297656">
                  <a:moveTo>
                    <a:pt x="0" y="0"/>
                  </a:moveTo>
                  <a:lnTo>
                    <a:pt x="297656" y="0"/>
                  </a:lnTo>
                  <a:lnTo>
                    <a:pt x="297656" y="372069"/>
                  </a:lnTo>
                  <a:lnTo>
                    <a:pt x="0" y="372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t="0" r="-11037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97650" cy="381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4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97321" y="8142980"/>
            <a:ext cx="5000920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Interactive React Interface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7321" y="8560746"/>
            <a:ext cx="5000920" cy="51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User-friendly forms and visualization of prediction outcomes.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866782" y="1764059"/>
            <a:ext cx="10438362" cy="5917111"/>
            <a:chOff x="0" y="0"/>
            <a:chExt cx="13917816" cy="7889481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3917803" cy="7889494"/>
            </a:xfrm>
            <a:custGeom>
              <a:avLst/>
              <a:gdLst/>
              <a:ahLst/>
              <a:cxnLst/>
              <a:rect r="r" b="b" t="t" l="l"/>
              <a:pathLst>
                <a:path h="7889494" w="13917803">
                  <a:moveTo>
                    <a:pt x="0" y="0"/>
                  </a:moveTo>
                  <a:lnTo>
                    <a:pt x="13917803" y="0"/>
                  </a:lnTo>
                  <a:lnTo>
                    <a:pt x="13917803" y="7889494"/>
                  </a:lnTo>
                  <a:lnTo>
                    <a:pt x="0" y="7889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" r="0" b="-57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866782" y="7799489"/>
            <a:ext cx="11352762" cy="26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Business benefits: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66782" y="8155781"/>
            <a:ext cx="10438362" cy="113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820" indent="-168910" lvl="1">
              <a:lnSpc>
                <a:spcPts val="1847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Better customer targeting and segmentation</a:t>
            </a:r>
          </a:p>
          <a:p>
            <a:pPr algn="l" marL="337820" indent="-168910" lvl="1">
              <a:lnSpc>
                <a:spcPts val="1847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Personalised campaigns with higher conversion rates</a:t>
            </a:r>
          </a:p>
          <a:p>
            <a:pPr algn="l" marL="337820" indent="-168910" lvl="1">
              <a:lnSpc>
                <a:spcPts val="1847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Reduced advertising spend through focused outreach</a:t>
            </a:r>
          </a:p>
          <a:p>
            <a:pPr algn="l" marL="337820" indent="-168910" lvl="1">
              <a:lnSpc>
                <a:spcPts val="1847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Data-driven decisions and measurable ROI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6172"/>
            <a:ext cx="16303523" cy="49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Challenges, Deployment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969391"/>
            <a:ext cx="5418239" cy="31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Challenges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383586"/>
            <a:ext cx="5418239" cy="109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Robust data preprocessing and feature engineering</a:t>
            </a:r>
          </a:p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Handling high-cardinality categorical variables</a:t>
            </a:r>
          </a:p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Consistent model serialization and versioning</a:t>
            </a:r>
          </a:p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Seamless frontend–backend integration and error handling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574802"/>
            <a:ext cx="5418239" cy="31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Deployment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988996"/>
            <a:ext cx="5418239" cy="97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Code hosted on GitHub; frontend deployed to Vercel. Backend can be hosted on cloud functions, containers, or a managed API platform. CI/CD pipelines recommended for repeatable releases.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2915" y="1533525"/>
            <a:ext cx="10442229" cy="31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Future Scope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2915" y="1947710"/>
            <a:ext cx="10442229" cy="137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Experiment with XGBoost / LightGBM for improved accuracy</a:t>
            </a:r>
          </a:p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Extend to a Recommendation System for product suggestions</a:t>
            </a:r>
          </a:p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Integrate Explainable AI (SHAP/LIME) for model transparency</a:t>
            </a:r>
          </a:p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Containerize with Docker and add CI/CD for automated deployment</a:t>
            </a:r>
          </a:p>
          <a:p>
            <a:pPr algn="l" marL="337820" indent="-168910" lvl="1">
              <a:lnSpc>
                <a:spcPts val="1831"/>
              </a:lnSpc>
              <a:buFont typeface="Arial"/>
              <a:buChar char="•"/>
            </a:pPr>
            <a:r>
              <a:rPr lang="en-US" sz="1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Migrate backend to AWS/GCP for scalable production hosting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62915" y="3451469"/>
            <a:ext cx="10442229" cy="5919340"/>
            <a:chOff x="0" y="0"/>
            <a:chExt cx="13922972" cy="789245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3923011" cy="7892415"/>
            </a:xfrm>
            <a:custGeom>
              <a:avLst/>
              <a:gdLst/>
              <a:ahLst/>
              <a:cxnLst/>
              <a:rect r="r" b="b" t="t" l="l"/>
              <a:pathLst>
                <a:path h="7892415" w="13923011">
                  <a:moveTo>
                    <a:pt x="0" y="0"/>
                  </a:moveTo>
                  <a:lnTo>
                    <a:pt x="13923011" y="0"/>
                  </a:lnTo>
                  <a:lnTo>
                    <a:pt x="13923011" y="7892415"/>
                  </a:lnTo>
                  <a:lnTo>
                    <a:pt x="0" y="7892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" r="0" b="-12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02034"/>
            <a:ext cx="16303523" cy="73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Conclusion &amp; Live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88344"/>
            <a:ext cx="16303523" cy="91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project is an end-to-end demonstration of how ML, API design, and modern frontend tooling combine to deliver actionable predictions for marketing. It showcases: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122562"/>
            <a:ext cx="16303523" cy="151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Practical ML model development and serialization (Joblib)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Robust API design with FastAPI and Pydantic</a:t>
            </a:r>
          </a:p>
          <a:p>
            <a:pPr algn="l" marL="506730" indent="-253365" lvl="1">
              <a:lnSpc>
                <a:spcPts val="3276"/>
              </a:lnSpc>
              <a:buFont typeface="Arial"/>
              <a:buChar char="•"/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Interactive React UI deployed on Vercel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859093"/>
            <a:ext cx="16303523" cy="120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Repository: </a:t>
            </a:r>
            <a:r>
              <a:rPr lang="en-US" b="true" sz="2100" u="sng">
                <a:solidFill>
                  <a:srgbClr val="007EBD"/>
                </a:solidFill>
                <a:latin typeface="Inter Bold"/>
                <a:ea typeface="Inter Bold"/>
                <a:cs typeface="Inter Bold"/>
                <a:sym typeface="Inter Bold"/>
                <a:hlinkClick r:id="rId4" tooltip="https://github.com/ihrysklps/Customer-Purchase-Prediction"/>
              </a:rPr>
              <a:t>https://github.com/ihrysklps/Customer-Purchase-Prediction</a:t>
            </a:r>
          </a:p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Live app: </a:t>
            </a:r>
            <a:r>
              <a:rPr lang="en-US" b="true" sz="2100" u="sng">
                <a:solidFill>
                  <a:srgbClr val="007EBD"/>
                </a:solidFill>
                <a:latin typeface="Inter Bold"/>
                <a:ea typeface="Inter Bold"/>
                <a:cs typeface="Inter Bold"/>
                <a:sym typeface="Inter Bold"/>
                <a:hlinkClick r:id="rId5" tooltip="https://customer-purchase-prediction-puce.vercel.app"/>
              </a:rPr>
              <a:t>https://customer-purchase-prediction-puce.vercel.app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427289"/>
            <a:ext cx="16303523" cy="46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209234"/>
            <a:ext cx="16303523" cy="91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If you'd like a walkthrough, questions, or access to the code and deployment notes — I'm happy to demo live and share the implementation details.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8410127"/>
            <a:ext cx="16303523" cy="1046264"/>
            <a:chOff x="0" y="0"/>
            <a:chExt cx="21738031" cy="13950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82" cy="1395095"/>
            </a:xfrm>
            <a:custGeom>
              <a:avLst/>
              <a:gdLst/>
              <a:ahLst/>
              <a:cxnLst/>
              <a:rect r="r" b="b" t="t" l="l"/>
              <a:pathLst>
                <a:path h="1395095" w="21738082">
                  <a:moveTo>
                    <a:pt x="0" y="151384"/>
                  </a:moveTo>
                  <a:cubicBezTo>
                    <a:pt x="0" y="67691"/>
                    <a:pt x="67691" y="0"/>
                    <a:pt x="151384" y="0"/>
                  </a:cubicBezTo>
                  <a:lnTo>
                    <a:pt x="21586698" y="0"/>
                  </a:lnTo>
                  <a:cubicBezTo>
                    <a:pt x="21670263" y="0"/>
                    <a:pt x="21738082" y="67691"/>
                    <a:pt x="21738082" y="151384"/>
                  </a:cubicBezTo>
                  <a:lnTo>
                    <a:pt x="21738082" y="1243711"/>
                  </a:lnTo>
                  <a:cubicBezTo>
                    <a:pt x="21738082" y="1327277"/>
                    <a:pt x="21670390" y="1395095"/>
                    <a:pt x="21586698" y="1395095"/>
                  </a:cubicBezTo>
                  <a:lnTo>
                    <a:pt x="151384" y="1395095"/>
                  </a:lnTo>
                  <a:cubicBezTo>
                    <a:pt x="67691" y="1394968"/>
                    <a:pt x="0" y="1327277"/>
                    <a:pt x="0" y="1243711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2358" y="8787413"/>
            <a:ext cx="337690" cy="270119"/>
            <a:chOff x="0" y="0"/>
            <a:chExt cx="450253" cy="36015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50215" cy="360172"/>
            </a:xfrm>
            <a:custGeom>
              <a:avLst/>
              <a:gdLst/>
              <a:ahLst/>
              <a:cxnLst/>
              <a:rect r="r" b="b" t="t" l="l"/>
              <a:pathLst>
                <a:path h="360172" w="450215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52" r="-8" b="-35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70177" y="8668341"/>
            <a:ext cx="16069866" cy="4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Contact: </a:t>
            </a:r>
            <a:r>
              <a:rPr lang="en-US" b="true" sz="2100" u="sng">
                <a:solidFill>
                  <a:srgbClr val="007EBD"/>
                </a:solidFill>
                <a:latin typeface="Inter Bold"/>
                <a:ea typeface="Inter Bold"/>
                <a:cs typeface="Inter Bold"/>
                <a:sym typeface="Inter Bold"/>
                <a:hlinkClick r:id="rId7" tooltip="mailto:hrysklps2305@gmail.com"/>
              </a:rPr>
              <a:t>hrysklps2305@gmail.com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— available for technical discussions and further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DAHRcQurKtw</dc:identifier>
  <dcterms:modified xsi:type="dcterms:W3CDTF">2011-08-01T06:04:30Z</dcterms:modified>
  <cp:revision>1</cp:revision>
  <dc:title>Customer-Purchase-Prediction-using-Machine-Learning (1).pptx</dc:title>
</cp:coreProperties>
</file>